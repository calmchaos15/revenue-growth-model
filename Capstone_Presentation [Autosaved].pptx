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58" r:id="rId6"/>
    <p:sldId id="265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3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694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nniferclifford/Library/Containers/com.microsoft.Excel/Data/Library/Application%20Support/Microsoft/Capstone%20I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jenniferclifford\Library\Containers\com.microsoft.Excel\Data\Library\Application%20Support\Microsoft\Capstone%20I%20(version%201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nniferclifford/Library/Containers/com.microsoft.Excel/Data/Library/Application%20Support/Microsoft/Capstone%20I%20(version%201)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monthly</a:t>
            </a:r>
            <a:r>
              <a:rPr lang="en-US" baseline="0"/>
              <a:t> cost per car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EF4-DB48-9398-A3D7F39801E9}"/>
              </c:ext>
            </c:extLst>
          </c:dPt>
          <c:dPt>
            <c:idx val="1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1D0-804F-869A-10E2D9173315}"/>
              </c:ext>
            </c:extLst>
          </c:dPt>
          <c:dPt>
            <c:idx val="2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EF4-DB48-9398-A3D7F39801E9}"/>
              </c:ext>
            </c:extLst>
          </c:dPt>
          <c:dPt>
            <c:idx val="3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EF4-DB48-9398-A3D7F39801E9}"/>
              </c:ext>
            </c:extLst>
          </c:dPt>
          <c:dPt>
            <c:idx val="49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EF4-DB48-9398-A3D7F39801E9}"/>
              </c:ext>
            </c:extLst>
          </c:dPt>
          <c:dPt>
            <c:idx val="5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2EF4-DB48-9398-A3D7F39801E9}"/>
              </c:ext>
            </c:extLst>
          </c:dPt>
          <c:dPt>
            <c:idx val="58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1D0-804F-869A-10E2D9173315}"/>
              </c:ext>
            </c:extLst>
          </c:dPt>
          <c:cat>
            <c:strRef>
              <c:f>cost_monthly!$A$4:$A$76</c:f>
              <c:strCache>
                <c:ptCount val="73"/>
                <c:pt idx="0">
                  <c:v>Acura</c:v>
                </c:pt>
                <c:pt idx="1">
                  <c:v>Alfa Romeo</c:v>
                </c:pt>
                <c:pt idx="2">
                  <c:v>Aptera</c:v>
                </c:pt>
                <c:pt idx="3">
                  <c:v>Aston Martin</c:v>
                </c:pt>
                <c:pt idx="4">
                  <c:v>Audi</c:v>
                </c:pt>
                <c:pt idx="5">
                  <c:v>Austin</c:v>
                </c:pt>
                <c:pt idx="6">
                  <c:v>Bentley</c:v>
                </c:pt>
                <c:pt idx="7">
                  <c:v>BMW</c:v>
                </c:pt>
                <c:pt idx="8">
                  <c:v>Buick</c:v>
                </c:pt>
                <c:pt idx="9">
                  <c:v>Cadillac</c:v>
                </c:pt>
                <c:pt idx="10">
                  <c:v>Chevrolet</c:v>
                </c:pt>
                <c:pt idx="11">
                  <c:v>Chrysler</c:v>
                </c:pt>
                <c:pt idx="12">
                  <c:v>Citro√´n</c:v>
                </c:pt>
                <c:pt idx="13">
                  <c:v>Corbin</c:v>
                </c:pt>
                <c:pt idx="14">
                  <c:v>Daewoo</c:v>
                </c:pt>
                <c:pt idx="15">
                  <c:v>Daihatsu</c:v>
                </c:pt>
                <c:pt idx="16">
                  <c:v>Dodge</c:v>
                </c:pt>
                <c:pt idx="17">
                  <c:v>Eagle</c:v>
                </c:pt>
                <c:pt idx="18">
                  <c:v>Ferrari</c:v>
                </c:pt>
                <c:pt idx="19">
                  <c:v>Fiat</c:v>
                </c:pt>
                <c:pt idx="20">
                  <c:v>Ford</c:v>
                </c:pt>
                <c:pt idx="21">
                  <c:v>Geo</c:v>
                </c:pt>
                <c:pt idx="22">
                  <c:v>GMC</c:v>
                </c:pt>
                <c:pt idx="23">
                  <c:v>Hillman</c:v>
                </c:pt>
                <c:pt idx="24">
                  <c:v>Holden</c:v>
                </c:pt>
                <c:pt idx="25">
                  <c:v>Honda</c:v>
                </c:pt>
                <c:pt idx="26">
                  <c:v>Hummer</c:v>
                </c:pt>
                <c:pt idx="27">
                  <c:v>Hyundai</c:v>
                </c:pt>
                <c:pt idx="28">
                  <c:v>Infiniti</c:v>
                </c:pt>
                <c:pt idx="29">
                  <c:v>Isuzu</c:v>
                </c:pt>
                <c:pt idx="30">
                  <c:v>Jaguar</c:v>
                </c:pt>
                <c:pt idx="31">
                  <c:v>Jeep</c:v>
                </c:pt>
                <c:pt idx="32">
                  <c:v>Jensen</c:v>
                </c:pt>
                <c:pt idx="33">
                  <c:v>Kia</c:v>
                </c:pt>
                <c:pt idx="34">
                  <c:v>Lamborghini</c:v>
                </c:pt>
                <c:pt idx="35">
                  <c:v>Land Rover</c:v>
                </c:pt>
                <c:pt idx="36">
                  <c:v>Lexus</c:v>
                </c:pt>
                <c:pt idx="37">
                  <c:v>Lincoln</c:v>
                </c:pt>
                <c:pt idx="38">
                  <c:v>Lotus</c:v>
                </c:pt>
                <c:pt idx="39">
                  <c:v>Maserati</c:v>
                </c:pt>
                <c:pt idx="40">
                  <c:v>Maybach</c:v>
                </c:pt>
                <c:pt idx="41">
                  <c:v>Mazda</c:v>
                </c:pt>
                <c:pt idx="42">
                  <c:v>McLaren</c:v>
                </c:pt>
                <c:pt idx="43">
                  <c:v>Mercedes-Benz</c:v>
                </c:pt>
                <c:pt idx="44">
                  <c:v>Mercury</c:v>
                </c:pt>
                <c:pt idx="45">
                  <c:v>Merkur</c:v>
                </c:pt>
                <c:pt idx="46">
                  <c:v>MG</c:v>
                </c:pt>
                <c:pt idx="47">
                  <c:v>MINI</c:v>
                </c:pt>
                <c:pt idx="48">
                  <c:v>Mitsubishi</c:v>
                </c:pt>
                <c:pt idx="49">
                  <c:v>Morgan</c:v>
                </c:pt>
                <c:pt idx="50">
                  <c:v>Nissan</c:v>
                </c:pt>
                <c:pt idx="51">
                  <c:v>Oldsmobile</c:v>
                </c:pt>
                <c:pt idx="52">
                  <c:v>Panoz</c:v>
                </c:pt>
                <c:pt idx="53">
                  <c:v>Peugeot</c:v>
                </c:pt>
                <c:pt idx="54">
                  <c:v>Plymouth</c:v>
                </c:pt>
                <c:pt idx="55">
                  <c:v>Pontiac</c:v>
                </c:pt>
                <c:pt idx="56">
                  <c:v>Porsche</c:v>
                </c:pt>
                <c:pt idx="57">
                  <c:v>Ram</c:v>
                </c:pt>
                <c:pt idx="58">
                  <c:v>Renault</c:v>
                </c:pt>
                <c:pt idx="59">
                  <c:v>Rolls-Royce</c:v>
                </c:pt>
                <c:pt idx="60">
                  <c:v>Saab</c:v>
                </c:pt>
                <c:pt idx="61">
                  <c:v>Saturn</c:v>
                </c:pt>
                <c:pt idx="62">
                  <c:v>Scion</c:v>
                </c:pt>
                <c:pt idx="63">
                  <c:v>Shelby</c:v>
                </c:pt>
                <c:pt idx="64">
                  <c:v>Smart</c:v>
                </c:pt>
                <c:pt idx="65">
                  <c:v>Spyker</c:v>
                </c:pt>
                <c:pt idx="66">
                  <c:v>Studebaker</c:v>
                </c:pt>
                <c:pt idx="67">
                  <c:v>Subaru</c:v>
                </c:pt>
                <c:pt idx="68">
                  <c:v>Suzuki</c:v>
                </c:pt>
                <c:pt idx="69">
                  <c:v>Tesla</c:v>
                </c:pt>
                <c:pt idx="70">
                  <c:v>Toyota</c:v>
                </c:pt>
                <c:pt idx="71">
                  <c:v>Volkswagen</c:v>
                </c:pt>
                <c:pt idx="72">
                  <c:v>Volvo</c:v>
                </c:pt>
              </c:strCache>
            </c:strRef>
          </c:cat>
          <c:val>
            <c:numRef>
              <c:f>cost_monthly!$D$4:$D$76</c:f>
              <c:numCache>
                <c:formatCode>0</c:formatCode>
                <c:ptCount val="73"/>
                <c:pt idx="0">
                  <c:v>573.08791666666662</c:v>
                </c:pt>
                <c:pt idx="1">
                  <c:v>647.27833333333331</c:v>
                </c:pt>
                <c:pt idx="2">
                  <c:v>591.54</c:v>
                </c:pt>
                <c:pt idx="3">
                  <c:v>582.72607142857146</c:v>
                </c:pt>
                <c:pt idx="4">
                  <c:v>608.62853211009178</c:v>
                </c:pt>
                <c:pt idx="5">
                  <c:v>681.12250000000006</c:v>
                </c:pt>
                <c:pt idx="6">
                  <c:v>618.31434782608699</c:v>
                </c:pt>
                <c:pt idx="7">
                  <c:v>584.55798561151073</c:v>
                </c:pt>
                <c:pt idx="8">
                  <c:v>591.5762222222221</c:v>
                </c:pt>
                <c:pt idx="9">
                  <c:v>583.38787500000012</c:v>
                </c:pt>
                <c:pt idx="10">
                  <c:v>589.04996835443023</c:v>
                </c:pt>
                <c:pt idx="11">
                  <c:v>573.26557142857143</c:v>
                </c:pt>
                <c:pt idx="12">
                  <c:v>533.36</c:v>
                </c:pt>
                <c:pt idx="13">
                  <c:v>709.39</c:v>
                </c:pt>
                <c:pt idx="14">
                  <c:v>621.07999999999993</c:v>
                </c:pt>
                <c:pt idx="15">
                  <c:v>605.55000000000007</c:v>
                </c:pt>
                <c:pt idx="16">
                  <c:v>583.85702222222221</c:v>
                </c:pt>
                <c:pt idx="17">
                  <c:v>588.82928571428567</c:v>
                </c:pt>
                <c:pt idx="18">
                  <c:v>611.06799999999998</c:v>
                </c:pt>
                <c:pt idx="19">
                  <c:v>558.76499999999999</c:v>
                </c:pt>
                <c:pt idx="20">
                  <c:v>589.26505847953263</c:v>
                </c:pt>
                <c:pt idx="21">
                  <c:v>593.36111111111109</c:v>
                </c:pt>
                <c:pt idx="22">
                  <c:v>577.57628742514964</c:v>
                </c:pt>
                <c:pt idx="23">
                  <c:v>657.97</c:v>
                </c:pt>
                <c:pt idx="24">
                  <c:v>520.755</c:v>
                </c:pt>
                <c:pt idx="25">
                  <c:v>587.73742857142861</c:v>
                </c:pt>
                <c:pt idx="26">
                  <c:v>619.76312499999995</c:v>
                </c:pt>
                <c:pt idx="27">
                  <c:v>602.17507042253533</c:v>
                </c:pt>
                <c:pt idx="28">
                  <c:v>597.39499999999975</c:v>
                </c:pt>
                <c:pt idx="29">
                  <c:v>585.46264705882356</c:v>
                </c:pt>
                <c:pt idx="30">
                  <c:v>593.63838709677418</c:v>
                </c:pt>
                <c:pt idx="31">
                  <c:v>580.38183673469382</c:v>
                </c:pt>
                <c:pt idx="32">
                  <c:v>671.25</c:v>
                </c:pt>
                <c:pt idx="33">
                  <c:v>576.06116666666651</c:v>
                </c:pt>
                <c:pt idx="34">
                  <c:v>567.71307692307698</c:v>
                </c:pt>
                <c:pt idx="35">
                  <c:v>592.03680851063825</c:v>
                </c:pt>
                <c:pt idx="36">
                  <c:v>584.88011627906997</c:v>
                </c:pt>
                <c:pt idx="37">
                  <c:v>578.30675324675337</c:v>
                </c:pt>
                <c:pt idx="38">
                  <c:v>587.48</c:v>
                </c:pt>
                <c:pt idx="39">
                  <c:v>601.54535714285714</c:v>
                </c:pt>
                <c:pt idx="40">
                  <c:v>593.13099999999997</c:v>
                </c:pt>
                <c:pt idx="41">
                  <c:v>583.62655737704927</c:v>
                </c:pt>
                <c:pt idx="42">
                  <c:v>578.04</c:v>
                </c:pt>
                <c:pt idx="43">
                  <c:v>594.40661764705908</c:v>
                </c:pt>
                <c:pt idx="44">
                  <c:v>587.48295918367319</c:v>
                </c:pt>
                <c:pt idx="45">
                  <c:v>567.82000000000005</c:v>
                </c:pt>
                <c:pt idx="46">
                  <c:v>620.96499999999992</c:v>
                </c:pt>
                <c:pt idx="47">
                  <c:v>609.46111111111111</c:v>
                </c:pt>
                <c:pt idx="48">
                  <c:v>581.52888198757762</c:v>
                </c:pt>
                <c:pt idx="49">
                  <c:v>691.28500000000008</c:v>
                </c:pt>
                <c:pt idx="50">
                  <c:v>596.30473684210529</c:v>
                </c:pt>
                <c:pt idx="51">
                  <c:v>592.00181818181807</c:v>
                </c:pt>
                <c:pt idx="52">
                  <c:v>590.62</c:v>
                </c:pt>
                <c:pt idx="53">
                  <c:v>655.29999999999995</c:v>
                </c:pt>
                <c:pt idx="54">
                  <c:v>595.57611111111112</c:v>
                </c:pt>
                <c:pt idx="55">
                  <c:v>598.25319999999999</c:v>
                </c:pt>
                <c:pt idx="56">
                  <c:v>580.86938775510214</c:v>
                </c:pt>
                <c:pt idx="57">
                  <c:v>500.82999999999993</c:v>
                </c:pt>
                <c:pt idx="58">
                  <c:v>452.15499999999997</c:v>
                </c:pt>
                <c:pt idx="59">
                  <c:v>562.00333333333333</c:v>
                </c:pt>
                <c:pt idx="60">
                  <c:v>593.81468749999988</c:v>
                </c:pt>
                <c:pt idx="61">
                  <c:v>576.03727272727269</c:v>
                </c:pt>
                <c:pt idx="62">
                  <c:v>560.63800000000003</c:v>
                </c:pt>
                <c:pt idx="63">
                  <c:v>595.91999999999996</c:v>
                </c:pt>
                <c:pt idx="64">
                  <c:v>613.63</c:v>
                </c:pt>
                <c:pt idx="65">
                  <c:v>622.52666666666676</c:v>
                </c:pt>
                <c:pt idx="66">
                  <c:v>547.38499999999999</c:v>
                </c:pt>
                <c:pt idx="67">
                  <c:v>579.43484848484854</c:v>
                </c:pt>
                <c:pt idx="68">
                  <c:v>599.88731343283598</c:v>
                </c:pt>
                <c:pt idx="69">
                  <c:v>613.14</c:v>
                </c:pt>
                <c:pt idx="70">
                  <c:v>583.47935135135151</c:v>
                </c:pt>
                <c:pt idx="71">
                  <c:v>592.41722222222211</c:v>
                </c:pt>
                <c:pt idx="72">
                  <c:v>593.71971014492749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0-804F-869A-10E2D91733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3609216"/>
        <c:axId val="1659457344"/>
      </c:barChart>
      <c:catAx>
        <c:axId val="1663609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9457344"/>
        <c:crossesAt val="0"/>
        <c:auto val="1"/>
        <c:lblAlgn val="ctr"/>
        <c:lblOffset val="100"/>
        <c:noMultiLvlLbl val="0"/>
      </c:catAx>
      <c:valAx>
        <c:axId val="1659457344"/>
        <c:scaling>
          <c:orientation val="minMax"/>
          <c:min val="4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609216"/>
        <c:crosses val="autoZero"/>
        <c:crossBetween val="between"/>
        <c:dispUnits>
          <c:builtInUnit val="hundreds"/>
          <c:dispUnitsLbl>
            <c:layout>
              <c:manualLayout>
                <c:xMode val="edge"/>
                <c:yMode val="edge"/>
                <c:x val="5.6251294997824806E-3"/>
                <c:y val="0.38846908019405074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monthly</a:t>
            </a:r>
            <a:r>
              <a:rPr lang="en-US" baseline="0"/>
              <a:t> cost per car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3609216"/>
        <c:axId val="1659457344"/>
      </c:barChart>
      <c:catAx>
        <c:axId val="1663609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9457344"/>
        <c:crosses val="autoZero"/>
        <c:auto val="1"/>
        <c:lblAlgn val="ctr"/>
        <c:lblOffset val="100"/>
        <c:noMultiLvlLbl val="0"/>
      </c:catAx>
      <c:valAx>
        <c:axId val="1659457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609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[Capstone I (version 1).xlsb]cost_insurance!PivotTable3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insurance cost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cost_insurance!$B$3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2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87C-0045-9B75-F7F06E525699}"/>
              </c:ext>
            </c:extLst>
          </c:dPt>
          <c:dPt>
            <c:idx val="49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87C-0045-9B75-F7F06E525699}"/>
              </c:ext>
            </c:extLst>
          </c:dPt>
          <c:dPt>
            <c:idx val="5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87C-0045-9B75-F7F06E525699}"/>
              </c:ext>
            </c:extLst>
          </c:dPt>
          <c:dPt>
            <c:idx val="6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87C-0045-9B75-F7F06E525699}"/>
              </c:ext>
            </c:extLst>
          </c:dPt>
          <c:dPt>
            <c:idx val="6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87C-0045-9B75-F7F06E525699}"/>
              </c:ext>
            </c:extLst>
          </c:dPt>
          <c:dPt>
            <c:idx val="6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87C-0045-9B75-F7F06E525699}"/>
              </c:ext>
            </c:extLst>
          </c:dPt>
          <c:cat>
            <c:strRef>
              <c:f>cost_insurance!$A$4:$A$77</c:f>
              <c:strCache>
                <c:ptCount val="73"/>
                <c:pt idx="0">
                  <c:v>Acura</c:v>
                </c:pt>
                <c:pt idx="1">
                  <c:v>Alfa Romeo</c:v>
                </c:pt>
                <c:pt idx="2">
                  <c:v>Aptera</c:v>
                </c:pt>
                <c:pt idx="3">
                  <c:v>Aston Martin</c:v>
                </c:pt>
                <c:pt idx="4">
                  <c:v>Audi</c:v>
                </c:pt>
                <c:pt idx="5">
                  <c:v>Austin</c:v>
                </c:pt>
                <c:pt idx="6">
                  <c:v>Bentley</c:v>
                </c:pt>
                <c:pt idx="7">
                  <c:v>BMW</c:v>
                </c:pt>
                <c:pt idx="8">
                  <c:v>Buick</c:v>
                </c:pt>
                <c:pt idx="9">
                  <c:v>Cadillac</c:v>
                </c:pt>
                <c:pt idx="10">
                  <c:v>Chevrolet</c:v>
                </c:pt>
                <c:pt idx="11">
                  <c:v>Chrysler</c:v>
                </c:pt>
                <c:pt idx="12">
                  <c:v>Citro√´n</c:v>
                </c:pt>
                <c:pt idx="13">
                  <c:v>Corbin</c:v>
                </c:pt>
                <c:pt idx="14">
                  <c:v>Daewoo</c:v>
                </c:pt>
                <c:pt idx="15">
                  <c:v>Daihatsu</c:v>
                </c:pt>
                <c:pt idx="16">
                  <c:v>Dodge</c:v>
                </c:pt>
                <c:pt idx="17">
                  <c:v>Eagle</c:v>
                </c:pt>
                <c:pt idx="18">
                  <c:v>Ferrari</c:v>
                </c:pt>
                <c:pt idx="19">
                  <c:v>Fiat</c:v>
                </c:pt>
                <c:pt idx="20">
                  <c:v>Ford</c:v>
                </c:pt>
                <c:pt idx="21">
                  <c:v>Geo</c:v>
                </c:pt>
                <c:pt idx="22">
                  <c:v>GMC</c:v>
                </c:pt>
                <c:pt idx="23">
                  <c:v>Hillman</c:v>
                </c:pt>
                <c:pt idx="24">
                  <c:v>Holden</c:v>
                </c:pt>
                <c:pt idx="25">
                  <c:v>Honda</c:v>
                </c:pt>
                <c:pt idx="26">
                  <c:v>Hummer</c:v>
                </c:pt>
                <c:pt idx="27">
                  <c:v>Hyundai</c:v>
                </c:pt>
                <c:pt idx="28">
                  <c:v>Infiniti</c:v>
                </c:pt>
                <c:pt idx="29">
                  <c:v>Isuzu</c:v>
                </c:pt>
                <c:pt idx="30">
                  <c:v>Jaguar</c:v>
                </c:pt>
                <c:pt idx="31">
                  <c:v>Jeep</c:v>
                </c:pt>
                <c:pt idx="32">
                  <c:v>Jensen</c:v>
                </c:pt>
                <c:pt idx="33">
                  <c:v>Kia</c:v>
                </c:pt>
                <c:pt idx="34">
                  <c:v>Lamborghini</c:v>
                </c:pt>
                <c:pt idx="35">
                  <c:v>Land Rover</c:v>
                </c:pt>
                <c:pt idx="36">
                  <c:v>Lexus</c:v>
                </c:pt>
                <c:pt idx="37">
                  <c:v>Lincoln</c:v>
                </c:pt>
                <c:pt idx="38">
                  <c:v>Lotus</c:v>
                </c:pt>
                <c:pt idx="39">
                  <c:v>Maserati</c:v>
                </c:pt>
                <c:pt idx="40">
                  <c:v>Maybach</c:v>
                </c:pt>
                <c:pt idx="41">
                  <c:v>Mazda</c:v>
                </c:pt>
                <c:pt idx="42">
                  <c:v>McLaren</c:v>
                </c:pt>
                <c:pt idx="43">
                  <c:v>Mercedes-Benz</c:v>
                </c:pt>
                <c:pt idx="44">
                  <c:v>Mercury</c:v>
                </c:pt>
                <c:pt idx="45">
                  <c:v>Merkur</c:v>
                </c:pt>
                <c:pt idx="46">
                  <c:v>MG</c:v>
                </c:pt>
                <c:pt idx="47">
                  <c:v>MINI</c:v>
                </c:pt>
                <c:pt idx="48">
                  <c:v>Mitsubishi</c:v>
                </c:pt>
                <c:pt idx="49">
                  <c:v>Morgan</c:v>
                </c:pt>
                <c:pt idx="50">
                  <c:v>Nissan</c:v>
                </c:pt>
                <c:pt idx="51">
                  <c:v>Oldsmobile</c:v>
                </c:pt>
                <c:pt idx="52">
                  <c:v>Panoz</c:v>
                </c:pt>
                <c:pt idx="53">
                  <c:v>Peugeot</c:v>
                </c:pt>
                <c:pt idx="54">
                  <c:v>Plymouth</c:v>
                </c:pt>
                <c:pt idx="55">
                  <c:v>Pontiac</c:v>
                </c:pt>
                <c:pt idx="56">
                  <c:v>Porsche</c:v>
                </c:pt>
                <c:pt idx="57">
                  <c:v>Ram</c:v>
                </c:pt>
                <c:pt idx="58">
                  <c:v>Renault</c:v>
                </c:pt>
                <c:pt idx="59">
                  <c:v>Rolls-Royce</c:v>
                </c:pt>
                <c:pt idx="60">
                  <c:v>Saab</c:v>
                </c:pt>
                <c:pt idx="61">
                  <c:v>Saturn</c:v>
                </c:pt>
                <c:pt idx="62">
                  <c:v>Scion</c:v>
                </c:pt>
                <c:pt idx="63">
                  <c:v>Shelby</c:v>
                </c:pt>
                <c:pt idx="64">
                  <c:v>Smart</c:v>
                </c:pt>
                <c:pt idx="65">
                  <c:v>Spyker</c:v>
                </c:pt>
                <c:pt idx="66">
                  <c:v>Studebaker</c:v>
                </c:pt>
                <c:pt idx="67">
                  <c:v>Subaru</c:v>
                </c:pt>
                <c:pt idx="68">
                  <c:v>Suzuki</c:v>
                </c:pt>
                <c:pt idx="69">
                  <c:v>Tesla</c:v>
                </c:pt>
                <c:pt idx="70">
                  <c:v>Toyota</c:v>
                </c:pt>
                <c:pt idx="71">
                  <c:v>Volkswagen</c:v>
                </c:pt>
                <c:pt idx="72">
                  <c:v>Volvo</c:v>
                </c:pt>
              </c:strCache>
            </c:strRef>
          </c:cat>
          <c:val>
            <c:numRef>
              <c:f>cost_insurance!$B$4:$B$77</c:f>
              <c:numCache>
                <c:formatCode>0</c:formatCode>
                <c:ptCount val="73"/>
                <c:pt idx="0">
                  <c:v>101.34854166666666</c:v>
                </c:pt>
                <c:pt idx="1">
                  <c:v>119.26499999999999</c:v>
                </c:pt>
                <c:pt idx="2">
                  <c:v>110.79</c:v>
                </c:pt>
                <c:pt idx="3">
                  <c:v>93.392142857142858</c:v>
                </c:pt>
                <c:pt idx="4">
                  <c:v>105.40486238532112</c:v>
                </c:pt>
                <c:pt idx="5">
                  <c:v>92.765000000000001</c:v>
                </c:pt>
                <c:pt idx="6">
                  <c:v>99.706956521739144</c:v>
                </c:pt>
                <c:pt idx="7">
                  <c:v>102.09525179856115</c:v>
                </c:pt>
                <c:pt idx="8">
                  <c:v>105.30644444444441</c:v>
                </c:pt>
                <c:pt idx="9">
                  <c:v>103.41937499999999</c:v>
                </c:pt>
                <c:pt idx="10">
                  <c:v>101.04939873417719</c:v>
                </c:pt>
                <c:pt idx="11">
                  <c:v>94.09414285714287</c:v>
                </c:pt>
                <c:pt idx="12">
                  <c:v>83.98</c:v>
                </c:pt>
                <c:pt idx="13">
                  <c:v>94.98</c:v>
                </c:pt>
                <c:pt idx="14">
                  <c:v>88.661111111111097</c:v>
                </c:pt>
                <c:pt idx="15">
                  <c:v>120.46666666666665</c:v>
                </c:pt>
                <c:pt idx="16">
                  <c:v>98.396133333333353</c:v>
                </c:pt>
                <c:pt idx="17">
                  <c:v>102.5014285714286</c:v>
                </c:pt>
                <c:pt idx="18">
                  <c:v>98.836000000000013</c:v>
                </c:pt>
                <c:pt idx="19">
                  <c:v>118.005</c:v>
                </c:pt>
                <c:pt idx="20">
                  <c:v>100.52570175438599</c:v>
                </c:pt>
                <c:pt idx="21">
                  <c:v>89.466666666666669</c:v>
                </c:pt>
                <c:pt idx="22">
                  <c:v>99.197305389221512</c:v>
                </c:pt>
                <c:pt idx="23">
                  <c:v>113.97</c:v>
                </c:pt>
                <c:pt idx="24">
                  <c:v>129.29000000000002</c:v>
                </c:pt>
                <c:pt idx="25">
                  <c:v>101.44057142857137</c:v>
                </c:pt>
                <c:pt idx="26">
                  <c:v>108.29875</c:v>
                </c:pt>
                <c:pt idx="27">
                  <c:v>106.5191549295775</c:v>
                </c:pt>
                <c:pt idx="28">
                  <c:v>98.513035714285735</c:v>
                </c:pt>
                <c:pt idx="29">
                  <c:v>95.602647058823521</c:v>
                </c:pt>
                <c:pt idx="30">
                  <c:v>109.92935483870964</c:v>
                </c:pt>
                <c:pt idx="31">
                  <c:v>100.20061224489795</c:v>
                </c:pt>
                <c:pt idx="32">
                  <c:v>97.100000000000009</c:v>
                </c:pt>
                <c:pt idx="33">
                  <c:v>105.22600000000003</c:v>
                </c:pt>
                <c:pt idx="34">
                  <c:v>101.74653846153844</c:v>
                </c:pt>
                <c:pt idx="35">
                  <c:v>99.95595744680854</c:v>
                </c:pt>
                <c:pt idx="36">
                  <c:v>99.699418604651157</c:v>
                </c:pt>
                <c:pt idx="37">
                  <c:v>103.67025974025977</c:v>
                </c:pt>
                <c:pt idx="38">
                  <c:v>93.729655172413786</c:v>
                </c:pt>
                <c:pt idx="39">
                  <c:v>92.432857142857102</c:v>
                </c:pt>
                <c:pt idx="40">
                  <c:v>92.023999999999987</c:v>
                </c:pt>
                <c:pt idx="41">
                  <c:v>104.13368852459018</c:v>
                </c:pt>
                <c:pt idx="42">
                  <c:v>99.914999999999992</c:v>
                </c:pt>
                <c:pt idx="43">
                  <c:v>102.44102941176475</c:v>
                </c:pt>
                <c:pt idx="44">
                  <c:v>96.361020408163242</c:v>
                </c:pt>
                <c:pt idx="45">
                  <c:v>103.44666666666667</c:v>
                </c:pt>
                <c:pt idx="46">
                  <c:v>114.73</c:v>
                </c:pt>
                <c:pt idx="47">
                  <c:v>101.41</c:v>
                </c:pt>
                <c:pt idx="48">
                  <c:v>100.16652173913047</c:v>
                </c:pt>
                <c:pt idx="49">
                  <c:v>125.375</c:v>
                </c:pt>
                <c:pt idx="50">
                  <c:v>97.871666666666599</c:v>
                </c:pt>
                <c:pt idx="51">
                  <c:v>102.91563636363638</c:v>
                </c:pt>
                <c:pt idx="52">
                  <c:v>141.32</c:v>
                </c:pt>
                <c:pt idx="53">
                  <c:v>99.19</c:v>
                </c:pt>
                <c:pt idx="54">
                  <c:v>102.47916666666667</c:v>
                </c:pt>
                <c:pt idx="55">
                  <c:v>99.380600000000001</c:v>
                </c:pt>
                <c:pt idx="56">
                  <c:v>102.1238775510204</c:v>
                </c:pt>
                <c:pt idx="57">
                  <c:v>115.79400000000001</c:v>
                </c:pt>
                <c:pt idx="58">
                  <c:v>79.930000000000007</c:v>
                </c:pt>
                <c:pt idx="59">
                  <c:v>97.40666666666668</c:v>
                </c:pt>
                <c:pt idx="60">
                  <c:v>104.60249999999998</c:v>
                </c:pt>
                <c:pt idx="61">
                  <c:v>98.998181818181834</c:v>
                </c:pt>
                <c:pt idx="62">
                  <c:v>95.087333333333333</c:v>
                </c:pt>
                <c:pt idx="63">
                  <c:v>143</c:v>
                </c:pt>
                <c:pt idx="64">
                  <c:v>144.94</c:v>
                </c:pt>
                <c:pt idx="65">
                  <c:v>126.87</c:v>
                </c:pt>
                <c:pt idx="66">
                  <c:v>111.7025</c:v>
                </c:pt>
                <c:pt idx="67">
                  <c:v>101.39696969696973</c:v>
                </c:pt>
                <c:pt idx="68">
                  <c:v>103.94671641791044</c:v>
                </c:pt>
                <c:pt idx="69">
                  <c:v>97.414999999999992</c:v>
                </c:pt>
                <c:pt idx="70">
                  <c:v>95.424270270270242</c:v>
                </c:pt>
                <c:pt idx="71">
                  <c:v>99.343263888888885</c:v>
                </c:pt>
                <c:pt idx="72">
                  <c:v>103.24652173913044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F8-714B-A1DC-EA27A17860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99951472"/>
        <c:axId val="1678992096"/>
      </c:barChart>
      <c:catAx>
        <c:axId val="189995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992096"/>
        <c:crosses val="autoZero"/>
        <c:auto val="1"/>
        <c:lblAlgn val="ctr"/>
        <c:lblOffset val="100"/>
        <c:noMultiLvlLbl val="0"/>
      </c:catAx>
      <c:valAx>
        <c:axId val="1678992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995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6350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FCFB5-5FE8-CB4F-B407-EE08406318C7}" type="datetimeFigureOut">
              <a:rPr lang="en-US" smtClean="0"/>
              <a:t>11/17/23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8F3A-AE82-4E41-881B-4524D2537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2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8F3A-AE82-4E41-881B-4524D25379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20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11/17/23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44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8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11/17/23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4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6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11/17/23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5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11/17/23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3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11/17/23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2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11/17/23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4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11/17/23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549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11/17/23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1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11/17/23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6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827EDBF4-772E-15EB-3478-C6C90D00D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937" y="491717"/>
            <a:ext cx="7216260" cy="3229275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501" y="4212709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348" y="4379135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0DCF4-9584-3703-36D0-8CA224F41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5032" y="4377616"/>
            <a:ext cx="10366743" cy="68699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Executive Presentation  for Mehdi </a:t>
            </a:r>
            <a:r>
              <a:rPr lang="en-US" sz="2800" dirty="0" err="1">
                <a:solidFill>
                  <a:schemeClr val="bg1"/>
                </a:solidFill>
              </a:rPr>
              <a:t>Khiati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F10A1-B9EB-506D-E921-7B7A2EAEF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780" y="4902236"/>
            <a:ext cx="10366744" cy="37745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Capstone I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Presented by: Jennifer Clifford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Date: Oct 26, 2023</a:t>
            </a:r>
          </a:p>
        </p:txBody>
      </p:sp>
    </p:spTree>
    <p:extLst>
      <p:ext uri="{BB962C8B-B14F-4D97-AF65-F5344CB8AC3E}">
        <p14:creationId xmlns:p14="http://schemas.microsoft.com/office/powerpoint/2010/main" val="1907455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A8DE-0964-9AD1-18B3-405A4B5E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37A-FE45-ABFC-66E8-C70840515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/>
              <a:t> Derive insights and recommendations on minimizing costs and maximizing revenue based on the provided 2018 dataset. </a:t>
            </a:r>
          </a:p>
        </p:txBody>
      </p:sp>
    </p:spTree>
    <p:extLst>
      <p:ext uri="{BB962C8B-B14F-4D97-AF65-F5344CB8AC3E}">
        <p14:creationId xmlns:p14="http://schemas.microsoft.com/office/powerpoint/2010/main" val="259631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A8DE-0964-9AD1-18B3-405A4B5E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37A-FE45-ABFC-66E8-C70840515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4194"/>
            <a:ext cx="10058400" cy="3849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The 2018 dataset:</a:t>
            </a:r>
          </a:p>
          <a:p>
            <a:pPr marL="274320" lvl="1" indent="0">
              <a:buNone/>
            </a:pPr>
            <a:r>
              <a:rPr lang="en-US" sz="1800" dirty="0"/>
              <a:t>Provided data points on branch location, relation to airports, vehicle models, vehicle IDs, monthly vehicle cost, rental demand and accidents.</a:t>
            </a:r>
          </a:p>
          <a:p>
            <a:pPr marL="274320" lvl="1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u="sng" dirty="0"/>
              <a:t>Cost cutting resources include</a:t>
            </a:r>
            <a:r>
              <a:rPr lang="en-US" sz="2000" dirty="0"/>
              <a:t>:</a:t>
            </a:r>
          </a:p>
          <a:p>
            <a:pPr marL="274320" lvl="1" indent="0">
              <a:buNone/>
            </a:pPr>
            <a:r>
              <a:rPr lang="en-US" sz="1800" dirty="0"/>
              <a:t>Monthly costs, insurance costs and accidents</a:t>
            </a:r>
          </a:p>
          <a:p>
            <a:pPr marL="0" indent="0">
              <a:buNone/>
            </a:pPr>
            <a:r>
              <a:rPr lang="en-US" sz="2000" u="sng" dirty="0"/>
              <a:t>Revenue resources include</a:t>
            </a:r>
            <a:r>
              <a:rPr lang="en-US" sz="2000" dirty="0"/>
              <a:t>:</a:t>
            </a:r>
          </a:p>
          <a:p>
            <a:pPr marL="274320" lvl="1" indent="0">
              <a:buNone/>
            </a:pPr>
            <a:r>
              <a:rPr lang="en-US" sz="1800" dirty="0"/>
              <a:t>Demand, daily rental price, and branch location revenue</a:t>
            </a:r>
          </a:p>
        </p:txBody>
      </p:sp>
    </p:spTree>
    <p:extLst>
      <p:ext uri="{BB962C8B-B14F-4D97-AF65-F5344CB8AC3E}">
        <p14:creationId xmlns:p14="http://schemas.microsoft.com/office/powerpoint/2010/main" val="219316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4A3A5EB-931E-46DE-A692-6731DB988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58634F-705D-44E4-9FBF-A406E2F9A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CFE1E3-A09C-4196-A99F-B7C3014E9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9A8DE-0964-9AD1-18B3-405A4B5E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Cost Cutting Analysis - Monthly Car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37A-FE45-ABFC-66E8-C70840515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55" y="5289013"/>
            <a:ext cx="11288629" cy="1067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Monthly car cost:</a:t>
            </a:r>
          </a:p>
          <a:p>
            <a:pPr marL="0" indent="0">
              <a:buNone/>
            </a:pPr>
            <a:r>
              <a:rPr lang="en-US" dirty="0"/>
              <a:t>Had an average of $593 per vehicle, ranged $452 to $709. The highest outliers above $600 are Austin, Corbin, </a:t>
            </a:r>
            <a:r>
              <a:rPr lang="en-US" dirty="0" err="1"/>
              <a:t>Hilman</a:t>
            </a:r>
            <a:r>
              <a:rPr lang="en-US" dirty="0"/>
              <a:t>, Jensen, Morgan, and Peugeot.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ADB7B2D-FA80-AB5F-50C6-8E95072EDE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5141858"/>
              </p:ext>
            </p:extLst>
          </p:nvPr>
        </p:nvGraphicFramePr>
        <p:xfrm>
          <a:off x="402102" y="1328394"/>
          <a:ext cx="11288629" cy="38243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6028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4A3A5EB-931E-46DE-A692-6731DB988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58634F-705D-44E4-9FBF-A406E2F9A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CFE1E3-A09C-4196-A99F-B7C3014E9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9A8DE-0964-9AD1-18B3-405A4B5E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Cost Cutting Analysis - Monthly Insurance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37A-FE45-ABFC-66E8-C70840515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63" y="5404995"/>
            <a:ext cx="11130525" cy="940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Monthly insurance:</a:t>
            </a:r>
          </a:p>
          <a:p>
            <a:pPr marL="0" indent="0">
              <a:buNone/>
            </a:pPr>
            <a:r>
              <a:rPr lang="en-US" dirty="0"/>
              <a:t>Ranged $79 to $144 and had an average of $103. The models with over $120 per month include Holden, Morgan, </a:t>
            </a:r>
            <a:r>
              <a:rPr lang="en-US" dirty="0" err="1"/>
              <a:t>Panoz</a:t>
            </a:r>
            <a:r>
              <a:rPr lang="en-US" dirty="0"/>
              <a:t>, Shelby, Smart, and </a:t>
            </a:r>
            <a:r>
              <a:rPr lang="en-US" dirty="0" err="1"/>
              <a:t>Spyker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ADB7B2D-FA80-AB5F-50C6-8E95072EDE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7422701"/>
              </p:ext>
            </p:extLst>
          </p:nvPr>
        </p:nvGraphicFramePr>
        <p:xfrm>
          <a:off x="8020571" y="2161488"/>
          <a:ext cx="3019646" cy="3632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2A8E042-1069-EBAE-A5C5-DFFDAE3112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145471"/>
              </p:ext>
            </p:extLst>
          </p:nvPr>
        </p:nvGraphicFramePr>
        <p:xfrm>
          <a:off x="438711" y="1631584"/>
          <a:ext cx="11314577" cy="3773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2141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A8DE-0964-9AD1-18B3-405A4B5E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Revenue Analysis - Demand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37A-FE45-ABFC-66E8-C70840515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8631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A8DE-0964-9AD1-18B3-405A4B5E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Revenue Analysis - R</a:t>
            </a:r>
            <a:r>
              <a:rPr lang="en-US" sz="4000" dirty="0"/>
              <a:t>ental </a:t>
            </a:r>
            <a:r>
              <a:rPr lang="en-US" dirty="0"/>
              <a:t>P</a:t>
            </a:r>
            <a:r>
              <a:rPr lang="en-US" sz="4000" dirty="0"/>
              <a:t>rice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37A-FE45-ABFC-66E8-C70840515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301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A8DE-0964-9AD1-18B3-405A4B5E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Analysis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37A-FE45-ABFC-66E8-C70840515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Monthly cost:</a:t>
            </a:r>
          </a:p>
          <a:p>
            <a:pPr marL="274320" lvl="1" indent="0">
              <a:buNone/>
            </a:pPr>
            <a:r>
              <a:rPr lang="en-US" sz="1800" dirty="0"/>
              <a:t>Negotiate reduction of cost for Austin, Corbin, </a:t>
            </a:r>
            <a:r>
              <a:rPr lang="en-US" sz="1800" dirty="0" err="1"/>
              <a:t>Hilman</a:t>
            </a:r>
            <a:r>
              <a:rPr lang="en-US" sz="1800" dirty="0"/>
              <a:t>, Jensen, Morgan, and Peugeot.</a:t>
            </a:r>
          </a:p>
          <a:p>
            <a:pPr marL="0" indent="0">
              <a:buNone/>
            </a:pPr>
            <a:r>
              <a:rPr lang="en-US" sz="2000" dirty="0"/>
              <a:t>Insurance cost:</a:t>
            </a:r>
          </a:p>
          <a:p>
            <a:pPr marL="274320" lvl="1" indent="0">
              <a:buNone/>
            </a:pPr>
            <a:r>
              <a:rPr lang="en-US" sz="1800" dirty="0"/>
              <a:t>Negotiate reduction of cost for Holden, Morgan, </a:t>
            </a:r>
            <a:r>
              <a:rPr lang="en-US" sz="1800" dirty="0" err="1"/>
              <a:t>Panoz</a:t>
            </a:r>
            <a:r>
              <a:rPr lang="en-US" sz="1800" dirty="0"/>
              <a:t>, Shelby, Smart, and </a:t>
            </a:r>
            <a:r>
              <a:rPr lang="en-US" sz="1800" dirty="0" err="1"/>
              <a:t>Spyker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2000" dirty="0"/>
              <a:t>Accidents:</a:t>
            </a:r>
            <a:endParaRPr lang="en-US" sz="1800" dirty="0"/>
          </a:p>
          <a:p>
            <a:pPr marL="274320" lvl="1" indent="0">
              <a:buNone/>
            </a:pPr>
            <a:r>
              <a:rPr lang="en-US" sz="1800" dirty="0"/>
              <a:t>Ford and Chevrolet account for the highest, but no monetary data is associated to this data.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8308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A8DE-0964-9AD1-18B3-405A4B5E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Forecasted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37A-FE45-ABFC-66E8-C70840515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5128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8768</TotalTime>
  <Words>285</Words>
  <Application>Microsoft Macintosh PowerPoint</Application>
  <PresentationFormat>Widescreen</PresentationFormat>
  <Paragraphs>38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Avenir Next LT Pro</vt:lpstr>
      <vt:lpstr>Avenir Next LT Pro Light</vt:lpstr>
      <vt:lpstr>Calibri</vt:lpstr>
      <vt:lpstr>Garamond</vt:lpstr>
      <vt:lpstr>Wingdings</vt:lpstr>
      <vt:lpstr>SavonVTI</vt:lpstr>
      <vt:lpstr>Executive Presentation  for Mehdi Khiati</vt:lpstr>
      <vt:lpstr>Goal of Presentation</vt:lpstr>
      <vt:lpstr>Analysis Agenda</vt:lpstr>
      <vt:lpstr>Cost Cutting Analysis - Monthly Car Cost</vt:lpstr>
      <vt:lpstr>Cost Cutting Analysis - Monthly Insurance</vt:lpstr>
      <vt:lpstr>Increasing Revenue Analysis - Demand </vt:lpstr>
      <vt:lpstr>Increasing Revenue Analysis - Rental Price </vt:lpstr>
      <vt:lpstr>Analysis Summary</vt:lpstr>
      <vt:lpstr>Forecasted Analysis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calmchaos15@outlook.com</dc:creator>
  <cp:lastModifiedBy>calmchaos15@outlook.com</cp:lastModifiedBy>
  <cp:revision>16</cp:revision>
  <dcterms:created xsi:type="dcterms:W3CDTF">2023-10-21T15:20:11Z</dcterms:created>
  <dcterms:modified xsi:type="dcterms:W3CDTF">2023-11-17T18:14:29Z</dcterms:modified>
</cp:coreProperties>
</file>